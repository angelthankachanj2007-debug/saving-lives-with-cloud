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guide shows anyone how to use the Saving Lives with Data hospital cloud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each numbered control, then the five tabs.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Roles show how authorization works. Receptionists cannot open medical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see a red message, read it: it tells you exactly what to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patient registered at Branch A can be opened from Branch B. That is the cloud advantage.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Choosing a department filters the doctor list to that department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numbers update instantly as records are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five-step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-822960"/>
            <a:ext cx="4754880" cy="475488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914400"/>
            <a:ext cx="2926080" cy="292608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3383280"/>
            <a:ext cx="2194560" cy="2194560"/>
          </a:xfrm>
          <a:prstGeom prst="ellipse">
            <a:avLst/>
          </a:prstGeom>
          <a:solidFill>
            <a:srgbClr val="7B61FF">
              <a:alpha val="40000"/>
            </a:srgbClr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3931920"/>
            <a:ext cx="2011680" cy="2011680"/>
          </a:xfrm>
          <a:prstGeom prst="ellipse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pic>
        <p:nvPicPr>
          <p:cNvPr id="6" name="Image 0" descr="Fa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97280"/>
            <a:ext cx="2377440" cy="2377440"/>
          </a:xfrm>
          <a:prstGeom prst="rect">
            <a:avLst/>
          </a:prstGeom>
        </p:spPr>
      </p:pic>
      <p:pic>
        <p:nvPicPr>
          <p:cNvPr id="7" name="Image 1" descr="FaHeartbe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965960"/>
            <a:ext cx="822960" cy="822960"/>
          </a:xfrm>
          <a:prstGeom prst="rect">
            <a:avLst/>
          </a:prstGeom>
        </p:spPr>
      </p:pic>
      <p:pic>
        <p:nvPicPr>
          <p:cNvPr id="8" name="Image 2" descr="FaHospit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200400"/>
            <a:ext cx="685800" cy="685800"/>
          </a:xfrm>
          <a:prstGeom prst="rect">
            <a:avLst/>
          </a:prstGeom>
        </p:spPr>
      </p:pic>
      <p:pic>
        <p:nvPicPr>
          <p:cNvPr id="9" name="Image 3" descr="FaUserM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914400"/>
            <a:ext cx="548640" cy="5486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548640" y="123444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the Hospital Cloud System</a:t>
            </a:r>
            <a:endParaRPr lang="en-US" sz="3000" dirty="0"/>
          </a:p>
        </p:txBody>
      </p:sp>
      <p:sp>
        <p:nvSpPr>
          <p:cNvPr id="12" name="Shape 6"/>
          <p:cNvSpPr/>
          <p:nvPr/>
        </p:nvSpPr>
        <p:spPr>
          <a:xfrm>
            <a:off x="548640" y="3017520"/>
            <a:ext cx="109728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54864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step-by-step guide for first-time users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548640" y="39776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548640" y="3977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easy steps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2148840" y="39776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2148840" y="3977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experience needed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237744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Screen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8229600" cy="237744"/>
          </a:xfrm>
          <a:prstGeom prst="rect">
            <a:avLst/>
          </a:prstGeom>
          <a:solidFill>
            <a:srgbClr val="DCE6EE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978408"/>
            <a:ext cx="100584" cy="1005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978408"/>
            <a:ext cx="100584" cy="100584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978408"/>
            <a:ext cx="100584" cy="100584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21615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12161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Lives with Data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31920" y="1261872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E3F6EE"/>
          </a:solidFill>
          <a:ln w="12700">
            <a:solidFill>
              <a:srgbClr val="E3F6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126187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 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1243584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2F7FB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12435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 v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1243584"/>
            <a:ext cx="1554480" cy="292608"/>
          </a:xfrm>
          <a:prstGeom prst="roundRect">
            <a:avLst>
              <a:gd name="adj" fmla="val 18750"/>
            </a:avLst>
          </a:prstGeom>
          <a:solidFill>
            <a:srgbClr val="F2F7FB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0" y="12435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  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178308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1783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0" y="178308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828800" y="1783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63240" y="178308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63240" y="1783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178308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97680" y="1783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32120" y="178308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32120" y="1783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22192" y="1143000"/>
            <a:ext cx="237744" cy="23774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822192" y="11430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4" dirty="0"/>
          </a:p>
        </p:txBody>
      </p:sp>
      <p:sp>
        <p:nvSpPr>
          <p:cNvPr id="32" name="Shape 30"/>
          <p:cNvSpPr/>
          <p:nvPr/>
        </p:nvSpPr>
        <p:spPr>
          <a:xfrm>
            <a:off x="5376672" y="1133856"/>
            <a:ext cx="237744" cy="23774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76672" y="11338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84" dirty="0"/>
          </a:p>
        </p:txBody>
      </p:sp>
      <p:sp>
        <p:nvSpPr>
          <p:cNvPr id="34" name="Shape 32"/>
          <p:cNvSpPr/>
          <p:nvPr/>
        </p:nvSpPr>
        <p:spPr>
          <a:xfrm>
            <a:off x="6839712" y="1133856"/>
            <a:ext cx="237744" cy="237744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39712" y="11338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84" dirty="0"/>
          </a:p>
        </p:txBody>
      </p:sp>
      <p:sp>
        <p:nvSpPr>
          <p:cNvPr id="36" name="Shape 34"/>
          <p:cNvSpPr/>
          <p:nvPr/>
        </p:nvSpPr>
        <p:spPr>
          <a:xfrm>
            <a:off x="411480" y="1691640"/>
            <a:ext cx="237744" cy="23774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1480" y="1691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84" dirty="0"/>
          </a:p>
        </p:txBody>
      </p:sp>
      <p:sp>
        <p:nvSpPr>
          <p:cNvPr id="38" name="Shape 36"/>
          <p:cNvSpPr/>
          <p:nvPr/>
        </p:nvSpPr>
        <p:spPr>
          <a:xfrm>
            <a:off x="457200" y="256032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6928" y="2670048"/>
            <a:ext cx="256032" cy="25603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66928" y="2670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2" dirty="0"/>
          </a:p>
        </p:txBody>
      </p:sp>
      <p:sp>
        <p:nvSpPr>
          <p:cNvPr id="41" name="Text 39"/>
          <p:cNvSpPr txBox="1"/>
          <p:nvPr/>
        </p:nvSpPr>
        <p:spPr>
          <a:xfrm>
            <a:off x="914400" y="26700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status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if records are saved in the shared cloud.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542032" y="256032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51760" y="2670048"/>
            <a:ext cx="256032" cy="256032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651760" y="2670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2" dirty="0"/>
          </a:p>
        </p:txBody>
      </p:sp>
      <p:sp>
        <p:nvSpPr>
          <p:cNvPr id="46" name="Text 44"/>
          <p:cNvSpPr txBox="1"/>
          <p:nvPr/>
        </p:nvSpPr>
        <p:spPr>
          <a:xfrm>
            <a:off x="2999232" y="26700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2651760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who you are: Doctor, Nurse or Receptionist.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26864" y="256032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36592" y="2670048"/>
            <a:ext cx="256032" cy="25603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736592" y="2670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2" dirty="0"/>
          </a:p>
        </p:txBody>
      </p:sp>
      <p:sp>
        <p:nvSpPr>
          <p:cNvPr id="51" name="Text 49"/>
          <p:cNvSpPr txBox="1"/>
          <p:nvPr/>
        </p:nvSpPr>
        <p:spPr>
          <a:xfrm>
            <a:off x="5084064" y="26700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4736592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Branch A or Branch B.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711696" y="256032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21424" y="2670048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821424" y="2670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2" dirty="0"/>
          </a:p>
        </p:txBody>
      </p:sp>
      <p:sp>
        <p:nvSpPr>
          <p:cNvPr id="56" name="Text 54"/>
          <p:cNvSpPr txBox="1"/>
          <p:nvPr/>
        </p:nvSpPr>
        <p:spPr>
          <a:xfrm>
            <a:off x="7168896" y="26700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6821424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between the pages of the website.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3657600"/>
            <a:ext cx="1572768" cy="1005840"/>
          </a:xfrm>
          <a:prstGeom prst="roundRect">
            <a:avLst>
              <a:gd name="adj" fmla="val 10909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pic>
        <p:nvPicPr>
          <p:cNvPr id="59" name="Image 0" descr="Fa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767328"/>
            <a:ext cx="292608" cy="292608"/>
          </a:xfrm>
          <a:prstGeom prst="rect">
            <a:avLst/>
          </a:prstGeom>
        </p:spPr>
      </p:pic>
      <p:sp>
        <p:nvSpPr>
          <p:cNvPr id="60" name="Text 57"/>
          <p:cNvSpPr txBox="1"/>
          <p:nvPr/>
        </p:nvSpPr>
        <p:spPr>
          <a:xfrm>
            <a:off x="566928" y="4114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566928" y="43708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2121408" y="3657600"/>
            <a:ext cx="1572768" cy="1005840"/>
          </a:xfrm>
          <a:prstGeom prst="roundRect">
            <a:avLst>
              <a:gd name="adj" fmla="val 10909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63" name="Image 1" descr="FaUserPl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3767328"/>
            <a:ext cx="292608" cy="292608"/>
          </a:xfrm>
          <a:prstGeom prst="rect">
            <a:avLst/>
          </a:prstGeom>
        </p:spPr>
      </p:pic>
      <p:sp>
        <p:nvSpPr>
          <p:cNvPr id="64" name="Text 60"/>
          <p:cNvSpPr txBox="1"/>
          <p:nvPr/>
        </p:nvSpPr>
        <p:spPr>
          <a:xfrm>
            <a:off x="2231136" y="4114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200" dirty="0"/>
          </a:p>
        </p:txBody>
      </p:sp>
      <p:sp>
        <p:nvSpPr>
          <p:cNvPr id="65" name="Text 61"/>
          <p:cNvSpPr txBox="1"/>
          <p:nvPr/>
        </p:nvSpPr>
        <p:spPr>
          <a:xfrm>
            <a:off x="2231136" y="43708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search</a:t>
            </a:r>
            <a:endParaRPr lang="en-US" sz="1000" dirty="0"/>
          </a:p>
        </p:txBody>
      </p:sp>
      <p:sp>
        <p:nvSpPr>
          <p:cNvPr id="66" name="Shape 62"/>
          <p:cNvSpPr/>
          <p:nvPr/>
        </p:nvSpPr>
        <p:spPr>
          <a:xfrm>
            <a:off x="3785616" y="3657600"/>
            <a:ext cx="1572768" cy="1005840"/>
          </a:xfrm>
          <a:prstGeom prst="roundRect">
            <a:avLst>
              <a:gd name="adj" fmla="val 10909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67" name="Image 2" descr="FaCalendar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344" y="3767328"/>
            <a:ext cx="292608" cy="292608"/>
          </a:xfrm>
          <a:prstGeom prst="rect">
            <a:avLst/>
          </a:prstGeom>
        </p:spPr>
      </p:pic>
      <p:sp>
        <p:nvSpPr>
          <p:cNvPr id="68" name="Text 63"/>
          <p:cNvSpPr txBox="1"/>
          <p:nvPr/>
        </p:nvSpPr>
        <p:spPr>
          <a:xfrm>
            <a:off x="3895344" y="4114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200" dirty="0"/>
          </a:p>
        </p:txBody>
      </p:sp>
      <p:sp>
        <p:nvSpPr>
          <p:cNvPr id="69" name="Text 64"/>
          <p:cNvSpPr txBox="1"/>
          <p:nvPr/>
        </p:nvSpPr>
        <p:spPr>
          <a:xfrm>
            <a:off x="3895344" y="43708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visits</a:t>
            </a:r>
            <a:endParaRPr lang="en-US" sz="1000" dirty="0"/>
          </a:p>
        </p:txBody>
      </p:sp>
      <p:sp>
        <p:nvSpPr>
          <p:cNvPr id="70" name="Shape 65"/>
          <p:cNvSpPr/>
          <p:nvPr/>
        </p:nvSpPr>
        <p:spPr>
          <a:xfrm>
            <a:off x="5449824" y="3657600"/>
            <a:ext cx="1572768" cy="1005840"/>
          </a:xfrm>
          <a:prstGeom prst="roundRect">
            <a:avLst>
              <a:gd name="adj" fmla="val 10909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71" name="Image 3" descr="FaHospit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552" y="3767328"/>
            <a:ext cx="292608" cy="292608"/>
          </a:xfrm>
          <a:prstGeom prst="rect">
            <a:avLst/>
          </a:prstGeom>
        </p:spPr>
      </p:pic>
      <p:sp>
        <p:nvSpPr>
          <p:cNvPr id="72" name="Text 66"/>
          <p:cNvSpPr txBox="1"/>
          <p:nvPr/>
        </p:nvSpPr>
        <p:spPr>
          <a:xfrm>
            <a:off x="5559552" y="4114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200" dirty="0"/>
          </a:p>
        </p:txBody>
      </p:sp>
      <p:sp>
        <p:nvSpPr>
          <p:cNvPr id="73" name="Text 67"/>
          <p:cNvSpPr txBox="1"/>
          <p:nvPr/>
        </p:nvSpPr>
        <p:spPr>
          <a:xfrm>
            <a:off x="5559552" y="43708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doctors</a:t>
            </a:r>
            <a:endParaRPr lang="en-US" sz="1000" dirty="0"/>
          </a:p>
        </p:txBody>
      </p:sp>
      <p:sp>
        <p:nvSpPr>
          <p:cNvPr id="74" name="Shape 68"/>
          <p:cNvSpPr/>
          <p:nvPr/>
        </p:nvSpPr>
        <p:spPr>
          <a:xfrm>
            <a:off x="7114032" y="3657600"/>
            <a:ext cx="1572768" cy="1005840"/>
          </a:xfrm>
          <a:prstGeom prst="roundRect">
            <a:avLst>
              <a:gd name="adj" fmla="val 1090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5" name="Image 4" descr="FaClou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3767328"/>
            <a:ext cx="292608" cy="292608"/>
          </a:xfrm>
          <a:prstGeom prst="rect">
            <a:avLst/>
          </a:prstGeom>
        </p:spPr>
      </p:pic>
      <p:sp>
        <p:nvSpPr>
          <p:cNvPr id="76" name="Text 69"/>
          <p:cNvSpPr txBox="1"/>
          <p:nvPr/>
        </p:nvSpPr>
        <p:spPr>
          <a:xfrm>
            <a:off x="7223760" y="4114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200" dirty="0"/>
          </a:p>
        </p:txBody>
      </p:sp>
      <p:sp>
        <p:nvSpPr>
          <p:cNvPr id="77" name="Text 70"/>
          <p:cNvSpPr txBox="1"/>
          <p:nvPr/>
        </p:nvSpPr>
        <p:spPr>
          <a:xfrm>
            <a:off x="7223760" y="43708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why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237744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Your Role and Branch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2651760" cy="868680"/>
          </a:xfrm>
          <a:prstGeom prst="roundRect">
            <a:avLst>
              <a:gd name="adj" fmla="val 12632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" name="Image 0" descr="FaUserM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9144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Doctor</a:t>
            </a:r>
            <a:endParaRPr lang="en-US" sz="1800" dirty="0"/>
          </a:p>
        </p:txBody>
      </p:sp>
      <p:pic>
        <p:nvPicPr>
          <p:cNvPr id="10" name="Image 1" descr="FaCheck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0574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60120" y="196596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full patient records</a:t>
            </a:r>
            <a:endParaRPr lang="en-US" sz="1150" dirty="0"/>
          </a:p>
        </p:txBody>
      </p:sp>
      <p:pic>
        <p:nvPicPr>
          <p:cNvPr id="12" name="Image 2" descr="FaCheck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55117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60120" y="245973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diagnosis and prescriptions</a:t>
            </a:r>
            <a:endParaRPr lang="en-US" sz="1150" dirty="0"/>
          </a:p>
        </p:txBody>
      </p:sp>
      <p:pic>
        <p:nvPicPr>
          <p:cNvPr id="14" name="Image 3" descr="FaCheckCir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044952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60120" y="295351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patients and book visits</a:t>
            </a:r>
            <a:endParaRPr lang="en-US" sz="1150" dirty="0"/>
          </a:p>
        </p:txBody>
      </p:sp>
      <p:pic>
        <p:nvPicPr>
          <p:cNvPr id="16" name="Image 4" descr="FaCheckCirc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53872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60120" y="344728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patient record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3264408" y="9144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3264408" y="914400"/>
            <a:ext cx="2651760" cy="868680"/>
          </a:xfrm>
          <a:prstGeom prst="roundRect">
            <a:avLst>
              <a:gd name="adj" fmla="val 12632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20" name="Image 5" descr="FaUserNur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7288" y="1097280"/>
            <a:ext cx="502920" cy="5029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087368" y="9144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Nurse</a:t>
            </a:r>
            <a:endParaRPr lang="en-US" sz="1800" dirty="0"/>
          </a:p>
        </p:txBody>
      </p:sp>
      <p:pic>
        <p:nvPicPr>
          <p:cNvPr id="22" name="Image 6" descr="FaCheckCirc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2057400"/>
            <a:ext cx="237744" cy="237744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3767328" y="196596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medical history</a:t>
            </a:r>
            <a:endParaRPr lang="en-US" sz="1150" dirty="0"/>
          </a:p>
        </p:txBody>
      </p:sp>
      <p:pic>
        <p:nvPicPr>
          <p:cNvPr id="24" name="Image 7" descr="FaCheckCircl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2551176"/>
            <a:ext cx="237744" cy="237744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3767328" y="245973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patients and book visits</a:t>
            </a:r>
            <a:endParaRPr lang="en-US" sz="1150" dirty="0"/>
          </a:p>
        </p:txBody>
      </p:sp>
      <p:pic>
        <p:nvPicPr>
          <p:cNvPr id="26" name="Image 8" descr="FaTimesCirc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0" y="3044952"/>
            <a:ext cx="237744" cy="237744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3767328" y="295351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add prescriptions</a:t>
            </a:r>
            <a:endParaRPr lang="en-US" sz="1150" dirty="0"/>
          </a:p>
        </p:txBody>
      </p:sp>
      <p:pic>
        <p:nvPicPr>
          <p:cNvPr id="28" name="Image 9" descr="FaTimesCircl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0" y="3538728"/>
            <a:ext cx="237744" cy="237744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3767328" y="344728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delete records</a:t>
            </a:r>
            <a:endParaRPr lang="en-US" sz="1150" dirty="0"/>
          </a:p>
        </p:txBody>
      </p:sp>
      <p:sp>
        <p:nvSpPr>
          <p:cNvPr id="30" name="Shape 18"/>
          <p:cNvSpPr/>
          <p:nvPr/>
        </p:nvSpPr>
        <p:spPr>
          <a:xfrm>
            <a:off x="6071616" y="9144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31" name="Shape 19"/>
          <p:cNvSpPr/>
          <p:nvPr/>
        </p:nvSpPr>
        <p:spPr>
          <a:xfrm>
            <a:off x="6071616" y="914400"/>
            <a:ext cx="2651760" cy="868680"/>
          </a:xfrm>
          <a:prstGeom prst="roundRect">
            <a:avLst>
              <a:gd name="adj" fmla="val 12632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32" name="Image 10" descr="FaConciergeBell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54496" y="1097280"/>
            <a:ext cx="502920" cy="502920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6894576" y="9144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Receptionist</a:t>
            </a:r>
            <a:endParaRPr lang="en-US" sz="1800" dirty="0"/>
          </a:p>
        </p:txBody>
      </p:sp>
      <p:pic>
        <p:nvPicPr>
          <p:cNvPr id="34" name="Image 11" descr="FaCheckCircl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6208" y="2057400"/>
            <a:ext cx="237744" cy="237744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6574536" y="196596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patients</a:t>
            </a:r>
            <a:endParaRPr lang="en-US" sz="1150" dirty="0"/>
          </a:p>
        </p:txBody>
      </p:sp>
      <p:pic>
        <p:nvPicPr>
          <p:cNvPr id="36" name="Image 12" descr="FaCheckCircle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36208" y="2551176"/>
            <a:ext cx="237744" cy="237744"/>
          </a:xfrm>
          <a:prstGeom prst="rect">
            <a:avLst/>
          </a:prstGeom>
        </p:spPr>
      </p:pic>
      <p:sp>
        <p:nvSpPr>
          <p:cNvPr id="37" name="Text 22"/>
          <p:cNvSpPr txBox="1"/>
          <p:nvPr/>
        </p:nvSpPr>
        <p:spPr>
          <a:xfrm>
            <a:off x="6574536" y="245973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appointments</a:t>
            </a:r>
            <a:endParaRPr lang="en-US" sz="1150" dirty="0"/>
          </a:p>
        </p:txBody>
      </p:sp>
      <p:pic>
        <p:nvPicPr>
          <p:cNvPr id="38" name="Image 13" descr="FaTimesCircle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36208" y="3044952"/>
            <a:ext cx="237744" cy="237744"/>
          </a:xfrm>
          <a:prstGeom prst="rect">
            <a:avLst/>
          </a:prstGeom>
        </p:spPr>
      </p:pic>
      <p:sp>
        <p:nvSpPr>
          <p:cNvPr id="39" name="Text 23"/>
          <p:cNvSpPr txBox="1"/>
          <p:nvPr/>
        </p:nvSpPr>
        <p:spPr>
          <a:xfrm>
            <a:off x="6574536" y="295351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details are locked</a:t>
            </a:r>
            <a:endParaRPr lang="en-US" sz="1150" dirty="0"/>
          </a:p>
        </p:txBody>
      </p:sp>
      <p:pic>
        <p:nvPicPr>
          <p:cNvPr id="40" name="Image 14" descr="FaTimesCircl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6208" y="3538728"/>
            <a:ext cx="237744" cy="237744"/>
          </a:xfrm>
          <a:prstGeom prst="rect">
            <a:avLst/>
          </a:prstGeom>
        </p:spPr>
      </p:pic>
      <p:sp>
        <p:nvSpPr>
          <p:cNvPr id="41" name="Text 24"/>
          <p:cNvSpPr txBox="1"/>
          <p:nvPr/>
        </p:nvSpPr>
        <p:spPr>
          <a:xfrm>
            <a:off x="6574536" y="344728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add prescriptions</a:t>
            </a:r>
            <a:endParaRPr lang="en-US" sz="1150" dirty="0"/>
          </a:p>
        </p:txBody>
      </p:sp>
      <p:sp>
        <p:nvSpPr>
          <p:cNvPr id="42" name="Shape 25"/>
          <p:cNvSpPr/>
          <p:nvPr/>
        </p:nvSpPr>
        <p:spPr>
          <a:xfrm>
            <a:off x="457200" y="4206240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3" name="Text 26"/>
          <p:cNvSpPr txBox="1"/>
          <p:nvPr/>
        </p:nvSpPr>
        <p:spPr>
          <a:xfrm>
            <a:off x="685800" y="42062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"Doctor" box at the top to pick your role, then pick your Branch. Access changes instantly, just like a real hospital.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237744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a New Patient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987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new patient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3258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*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1499616"/>
            <a:ext cx="36576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1499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Anita Sharma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2880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*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40080" y="2002536"/>
            <a:ext cx="178308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20025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182880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14600" y="2002536"/>
            <a:ext cx="178308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87752" y="20025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3317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2505456"/>
            <a:ext cx="178308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2505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514600" y="23317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group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514600" y="2505456"/>
            <a:ext cx="178308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87752" y="2505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28346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allergies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" y="3008376"/>
            <a:ext cx="36576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30083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Penicillin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34290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cloud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Anita Sharma was saved to the cloud.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" y="1417320"/>
            <a:ext cx="274320" cy="2743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7472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347472" y="2468880"/>
            <a:ext cx="274320" cy="2743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7472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347472" y="3474720"/>
            <a:ext cx="274320" cy="2743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7472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347472" y="3950208"/>
            <a:ext cx="274320" cy="2743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47472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4754880" y="914400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1024128"/>
            <a:ext cx="274320" cy="2743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846320" y="1024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20" dirty="0"/>
          </a:p>
        </p:txBody>
      </p:sp>
      <p:sp>
        <p:nvSpPr>
          <p:cNvPr id="40" name="Text 38"/>
          <p:cNvSpPr txBox="1"/>
          <p:nvPr/>
        </p:nvSpPr>
        <p:spPr>
          <a:xfrm>
            <a:off x="5230368" y="91440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Patients tab.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754880" y="1481328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1591056"/>
            <a:ext cx="274320" cy="2743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846320" y="1591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20" dirty="0"/>
          </a:p>
        </p:txBody>
      </p:sp>
      <p:sp>
        <p:nvSpPr>
          <p:cNvPr id="44" name="Text 42"/>
          <p:cNvSpPr txBox="1"/>
          <p:nvPr/>
        </p:nvSpPr>
        <p:spPr>
          <a:xfrm>
            <a:off x="5230368" y="1481328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full name and age (marked *). These are required.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754880" y="2048256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6320" y="2157984"/>
            <a:ext cx="274320" cy="274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846320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20" dirty="0"/>
          </a:p>
        </p:txBody>
      </p:sp>
      <p:sp>
        <p:nvSpPr>
          <p:cNvPr id="48" name="Text 46"/>
          <p:cNvSpPr txBox="1"/>
          <p:nvPr/>
        </p:nvSpPr>
        <p:spPr>
          <a:xfrm>
            <a:off x="5230368" y="2048256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phone, blood group and allergies if you know them.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754880" y="2615184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46320" y="2724912"/>
            <a:ext cx="274320" cy="274320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846320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20" dirty="0"/>
          </a:p>
        </p:txBody>
      </p:sp>
      <p:sp>
        <p:nvSpPr>
          <p:cNvPr id="52" name="Text 50"/>
          <p:cNvSpPr txBox="1"/>
          <p:nvPr/>
        </p:nvSpPr>
        <p:spPr>
          <a:xfrm>
            <a:off x="5230368" y="2615184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green "Save to cloud" button.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754880" y="3182112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46320" y="3291840"/>
            <a:ext cx="274320" cy="2743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84632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20" dirty="0"/>
          </a:p>
        </p:txBody>
      </p:sp>
      <p:sp>
        <p:nvSpPr>
          <p:cNvPr id="56" name="Text 54"/>
          <p:cNvSpPr txBox="1"/>
          <p:nvPr/>
        </p:nvSpPr>
        <p:spPr>
          <a:xfrm>
            <a:off x="5230368" y="318211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green message. It means the record is saved.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4754880" y="384048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FFF6E0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58" name="Image 0" descr="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608" y="4023360"/>
            <a:ext cx="320040" cy="320040"/>
          </a:xfrm>
          <a:prstGeom prst="rect">
            <a:avLst/>
          </a:prstGeom>
        </p:spPr>
      </p:pic>
      <p:sp>
        <p:nvSpPr>
          <p:cNvPr id="59" name="Text 56"/>
          <p:cNvSpPr txBox="1"/>
          <p:nvPr/>
        </p:nvSpPr>
        <p:spPr>
          <a:xfrm>
            <a:off x="5303520" y="3840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must be 0 to 120. Phone accepts numbers, spaces, + and - only. Use fictional data!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237744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and Open a Patient Record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24128"/>
            <a:ext cx="3657600" cy="310896"/>
          </a:xfrm>
          <a:prstGeom prst="roundRect">
            <a:avLst>
              <a:gd name="adj" fmla="val 17647"/>
            </a:avLst>
          </a:prstGeom>
          <a:solidFill>
            <a:srgbClr val="F2F7FB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02412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Anita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1481328"/>
            <a:ext cx="3657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545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Anita Sharma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7922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yrs, Female, B+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1572768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E1F0FC"/>
          </a:solidFill>
          <a:ln w="12700">
            <a:solidFill>
              <a:srgbClr val="E1F0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97480" y="15727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273552" y="16459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73552" y="1645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record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2212848"/>
            <a:ext cx="3657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276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Menon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25237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yrs, Male, O+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97480" y="2304288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E1F0FC"/>
          </a:solidFill>
          <a:ln w="12700">
            <a:solidFill>
              <a:srgbClr val="E1F0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97480" y="23042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273552" y="23774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73552" y="2377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record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914400"/>
            <a:ext cx="41148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54880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Anita Sharma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12618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yrs, Female, Blood B+, Registered at Branch 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15179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Allergies: Penicillin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fever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Rx: Paracetamol 500 mg, 3 days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331720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FFF6E0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7492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only: add diagnosis and prescription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8346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54880" y="2834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2834640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0" y="28346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1042416"/>
            <a:ext cx="237744" cy="23774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65760" y="1042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4" dirty="0"/>
          </a:p>
        </p:txBody>
      </p:sp>
      <p:sp>
        <p:nvSpPr>
          <p:cNvPr id="36" name="Shape 34"/>
          <p:cNvSpPr/>
          <p:nvPr/>
        </p:nvSpPr>
        <p:spPr>
          <a:xfrm>
            <a:off x="4133088" y="1417320"/>
            <a:ext cx="237744" cy="23774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33088" y="14173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84" dirty="0"/>
          </a:p>
        </p:txBody>
      </p:sp>
      <p:sp>
        <p:nvSpPr>
          <p:cNvPr id="38" name="Shape 36"/>
          <p:cNvSpPr/>
          <p:nvPr/>
        </p:nvSpPr>
        <p:spPr>
          <a:xfrm>
            <a:off x="4462272" y="987552"/>
            <a:ext cx="237744" cy="237744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462272" y="987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84" dirty="0"/>
          </a:p>
        </p:txBody>
      </p:sp>
      <p:sp>
        <p:nvSpPr>
          <p:cNvPr id="40" name="Shape 38"/>
          <p:cNvSpPr/>
          <p:nvPr/>
        </p:nvSpPr>
        <p:spPr>
          <a:xfrm>
            <a:off x="4645152" y="2377440"/>
            <a:ext cx="237744" cy="23774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645152" y="23774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84" dirty="0"/>
          </a:p>
        </p:txBody>
      </p:sp>
      <p:sp>
        <p:nvSpPr>
          <p:cNvPr id="42" name="Shape 40"/>
          <p:cNvSpPr/>
          <p:nvPr/>
        </p:nvSpPr>
        <p:spPr>
          <a:xfrm>
            <a:off x="457200" y="347472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928" y="3584448"/>
            <a:ext cx="256032" cy="25603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66928" y="3584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2" dirty="0"/>
          </a:p>
        </p:txBody>
      </p:sp>
      <p:sp>
        <p:nvSpPr>
          <p:cNvPr id="45" name="Text 43"/>
          <p:cNvSpPr txBox="1"/>
          <p:nvPr/>
        </p:nvSpPr>
        <p:spPr>
          <a:xfrm>
            <a:off x="914400" y="35844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66928" y="391363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name, phone or ID in the search box.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542032" y="347472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51760" y="3584448"/>
            <a:ext cx="256032" cy="256032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651760" y="3584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2" dirty="0"/>
          </a:p>
        </p:txBody>
      </p:sp>
      <p:sp>
        <p:nvSpPr>
          <p:cNvPr id="50" name="Text 48"/>
          <p:cNvSpPr txBox="1"/>
          <p:nvPr/>
        </p:nvSpPr>
        <p:spPr>
          <a:xfrm>
            <a:off x="2999232" y="35844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2651760" y="391363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"Open record" next to the patient.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26864" y="347472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36592" y="3584448"/>
            <a:ext cx="256032" cy="25603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736592" y="3584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2" dirty="0"/>
          </a:p>
        </p:txBody>
      </p:sp>
      <p:sp>
        <p:nvSpPr>
          <p:cNvPr id="55" name="Text 53"/>
          <p:cNvSpPr txBox="1"/>
          <p:nvPr/>
        </p:nvSpPr>
        <p:spPr>
          <a:xfrm>
            <a:off x="5084064" y="35844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4736592" y="391363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allergies, past visits, prescriptions and appointments.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711696" y="347472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21424" y="3584448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>
                <a:alpha val="0"/>
              </a:srgbClr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821424" y="3584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2" dirty="0"/>
          </a:p>
        </p:txBody>
      </p:sp>
      <p:sp>
        <p:nvSpPr>
          <p:cNvPr id="60" name="Text 58"/>
          <p:cNvSpPr txBox="1"/>
          <p:nvPr/>
        </p:nvSpPr>
        <p:spPr>
          <a:xfrm>
            <a:off x="7168896" y="35844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add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6821424" y="391363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can add a diagnosis and prescription, then click "Save visit".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457200" y="4736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a record is opened, it is logged on the Dashboard for safety.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237744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an Appointment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280160" cy="1417320"/>
          </a:xfrm>
          <a:prstGeom prst="roundRect">
            <a:avLst>
              <a:gd name="adj" fmla="val 8571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0584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2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pic>
        <p:nvPicPr>
          <p:cNvPr id="10" name="Image 0" descr="Fa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02920" y="1828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patient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1719072" y="14630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847088" y="914400"/>
            <a:ext cx="1280160" cy="1417320"/>
          </a:xfrm>
          <a:prstGeom prst="roundRect">
            <a:avLst>
              <a:gd name="adj" fmla="val 8571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938528" y="100584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938528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2" dirty="0"/>
          </a:p>
        </p:txBody>
      </p:sp>
      <p:sp>
        <p:nvSpPr>
          <p:cNvPr id="16" name="Text 13"/>
          <p:cNvSpPr txBox="1"/>
          <p:nvPr/>
        </p:nvSpPr>
        <p:spPr>
          <a:xfrm>
            <a:off x="1938528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pic>
        <p:nvPicPr>
          <p:cNvPr id="17" name="Image 1" descr="FaSitem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288" y="137160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892808" y="1828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department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3108960" y="14630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236976" y="914400"/>
            <a:ext cx="1280160" cy="1417320"/>
          </a:xfrm>
          <a:prstGeom prst="roundRect">
            <a:avLst>
              <a:gd name="adj" fmla="val 8571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328416" y="100584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328416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2" dirty="0"/>
          </a:p>
        </p:txBody>
      </p:sp>
      <p:sp>
        <p:nvSpPr>
          <p:cNvPr id="23" name="Text 19"/>
          <p:cNvSpPr txBox="1"/>
          <p:nvPr/>
        </p:nvSpPr>
        <p:spPr>
          <a:xfrm>
            <a:off x="3328416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pic>
        <p:nvPicPr>
          <p:cNvPr id="24" name="Image 2" descr="FaUserM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137160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3282696" y="1828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doctor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4498848" y="14630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626864" y="914400"/>
            <a:ext cx="1280160" cy="1417320"/>
          </a:xfrm>
          <a:prstGeom prst="roundRect">
            <a:avLst>
              <a:gd name="adj" fmla="val 8571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718304" y="100584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718304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2" dirty="0"/>
          </a:p>
        </p:txBody>
      </p:sp>
      <p:sp>
        <p:nvSpPr>
          <p:cNvPr id="30" name="Text 25"/>
          <p:cNvSpPr txBox="1"/>
          <p:nvPr/>
        </p:nvSpPr>
        <p:spPr>
          <a:xfrm>
            <a:off x="4718304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pic>
        <p:nvPicPr>
          <p:cNvPr id="31" name="Image 3" descr="FaCalendar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1371600"/>
            <a:ext cx="365760" cy="36576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672584" y="1828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and time</a:t>
            </a:r>
            <a:endParaRPr lang="en-US" sz="1150" dirty="0"/>
          </a:p>
        </p:txBody>
      </p:sp>
      <p:sp>
        <p:nvSpPr>
          <p:cNvPr id="33" name="Text 27"/>
          <p:cNvSpPr txBox="1"/>
          <p:nvPr/>
        </p:nvSpPr>
        <p:spPr>
          <a:xfrm>
            <a:off x="5888736" y="14630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6016752" y="914400"/>
            <a:ext cx="1280160" cy="1417320"/>
          </a:xfrm>
          <a:prstGeom prst="roundRect">
            <a:avLst>
              <a:gd name="adj" fmla="val 8571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108192" y="100584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6108192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2" dirty="0"/>
          </a:p>
        </p:txBody>
      </p:sp>
      <p:sp>
        <p:nvSpPr>
          <p:cNvPr id="37" name="Text 31"/>
          <p:cNvSpPr txBox="1"/>
          <p:nvPr/>
        </p:nvSpPr>
        <p:spPr>
          <a:xfrm>
            <a:off x="6108192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pic>
        <p:nvPicPr>
          <p:cNvPr id="38" name="Image 4" descr="FaP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1371600"/>
            <a:ext cx="365760" cy="36576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6062472" y="1828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reason</a:t>
            </a:r>
            <a:endParaRPr lang="en-US" sz="1150" dirty="0"/>
          </a:p>
        </p:txBody>
      </p:sp>
      <p:sp>
        <p:nvSpPr>
          <p:cNvPr id="40" name="Text 33"/>
          <p:cNvSpPr txBox="1"/>
          <p:nvPr/>
        </p:nvSpPr>
        <p:spPr>
          <a:xfrm>
            <a:off x="7278624" y="14630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7406640" y="914400"/>
            <a:ext cx="1280160" cy="1417320"/>
          </a:xfrm>
          <a:prstGeom prst="roundRect">
            <a:avLst>
              <a:gd name="adj" fmla="val 8571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7498080" y="100584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7498080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2" dirty="0"/>
          </a:p>
        </p:txBody>
      </p:sp>
      <p:sp>
        <p:nvSpPr>
          <p:cNvPr id="44" name="Text 37"/>
          <p:cNvSpPr txBox="1"/>
          <p:nvPr/>
        </p:nvSpPr>
        <p:spPr>
          <a:xfrm>
            <a:off x="7498080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pic>
        <p:nvPicPr>
          <p:cNvPr id="45" name="Image 5" descr="FaCheckCirc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1371600"/>
            <a:ext cx="365760" cy="365760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7452360" y="1828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50" dirty="0"/>
          </a:p>
        </p:txBody>
      </p:sp>
      <p:sp>
        <p:nvSpPr>
          <p:cNvPr id="47" name="Shape 39"/>
          <p:cNvSpPr/>
          <p:nvPr/>
        </p:nvSpPr>
        <p:spPr>
          <a:xfrm>
            <a:off x="457200" y="2560320"/>
            <a:ext cx="40233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640080" y="2633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you confirm</a:t>
            </a:r>
            <a:endParaRPr lang="en-US" sz="1300" dirty="0"/>
          </a:p>
        </p:txBody>
      </p:sp>
      <p:sp>
        <p:nvSpPr>
          <p:cNvPr id="49" name="Text 41"/>
          <p:cNvSpPr txBox="1"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confirmed for Rahul Menon at 16:00.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640080" y="329184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F2F7FB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749808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Menon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16:00, Dr. Rajiv Mehta (Cardiologist)</a:t>
            </a:r>
            <a:endParaRPr lang="en-US" sz="1100" dirty="0"/>
          </a:p>
        </p:txBody>
      </p:sp>
      <p:sp>
        <p:nvSpPr>
          <p:cNvPr id="52" name="Shape 44"/>
          <p:cNvSpPr/>
          <p:nvPr/>
        </p:nvSpPr>
        <p:spPr>
          <a:xfrm>
            <a:off x="3246120" y="3346704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E1F0FC"/>
          </a:solidFill>
          <a:ln w="12700">
            <a:solidFill>
              <a:srgbClr val="E1F0FC"/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3246120" y="3346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800" dirty="0"/>
          </a:p>
        </p:txBody>
      </p:sp>
      <p:sp>
        <p:nvSpPr>
          <p:cNvPr id="54" name="Shape 46"/>
          <p:cNvSpPr/>
          <p:nvPr/>
        </p:nvSpPr>
        <p:spPr>
          <a:xfrm>
            <a:off x="2423160" y="373075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2423160" y="37307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56" name="Shape 48"/>
          <p:cNvSpPr/>
          <p:nvPr/>
        </p:nvSpPr>
        <p:spPr>
          <a:xfrm>
            <a:off x="3310128" y="373075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57" name="Text 49"/>
          <p:cNvSpPr txBox="1"/>
          <p:nvPr/>
        </p:nvSpPr>
        <p:spPr>
          <a:xfrm>
            <a:off x="3310128" y="37307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900" dirty="0"/>
          </a:p>
        </p:txBody>
      </p:sp>
      <p:sp>
        <p:nvSpPr>
          <p:cNvPr id="58" name="Text 50"/>
          <p:cNvSpPr txBox="1"/>
          <p:nvPr/>
        </p:nvSpPr>
        <p:spPr>
          <a:xfrm>
            <a:off x="64008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 under the Appointments tab.</a:t>
            </a:r>
            <a:endParaRPr lang="en-US" sz="1000" dirty="0"/>
          </a:p>
        </p:txBody>
      </p:sp>
      <p:sp>
        <p:nvSpPr>
          <p:cNvPr id="59" name="Shape 51"/>
          <p:cNvSpPr/>
          <p:nvPr/>
        </p:nvSpPr>
        <p:spPr>
          <a:xfrm>
            <a:off x="4663440" y="2560320"/>
            <a:ext cx="40233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60" name="Text 52"/>
          <p:cNvSpPr txBox="1"/>
          <p:nvPr/>
        </p:nvSpPr>
        <p:spPr>
          <a:xfrm>
            <a:off x="4846320" y="2633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see a red message</a:t>
            </a:r>
            <a:endParaRPr lang="en-US" sz="1300" dirty="0"/>
          </a:p>
        </p:txBody>
      </p:sp>
      <p:sp>
        <p:nvSpPr>
          <p:cNvPr id="61" name="Shape 53"/>
          <p:cNvSpPr/>
          <p:nvPr/>
        </p:nvSpPr>
        <p:spPr>
          <a:xfrm>
            <a:off x="4846320" y="3090672"/>
            <a:ext cx="274320" cy="2743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62" name="Text 54"/>
          <p:cNvSpPr txBox="1"/>
          <p:nvPr/>
        </p:nvSpPr>
        <p:spPr>
          <a:xfrm>
            <a:off x="4846320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63" name="Text 55"/>
          <p:cNvSpPr txBox="1"/>
          <p:nvPr/>
        </p:nvSpPr>
        <p:spPr>
          <a:xfrm>
            <a:off x="5257800" y="29992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patient selected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patient first.</a:t>
            </a:r>
            <a:endParaRPr lang="en-US" sz="1100" dirty="0"/>
          </a:p>
        </p:txBody>
      </p:sp>
      <p:sp>
        <p:nvSpPr>
          <p:cNvPr id="64" name="Shape 56"/>
          <p:cNvSpPr/>
          <p:nvPr/>
        </p:nvSpPr>
        <p:spPr>
          <a:xfrm>
            <a:off x="4846320" y="3639312"/>
            <a:ext cx="274320" cy="2743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65" name="Text 57"/>
          <p:cNvSpPr txBox="1"/>
          <p:nvPr/>
        </p:nvSpPr>
        <p:spPr>
          <a:xfrm>
            <a:off x="4846320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66" name="Text 58"/>
          <p:cNvSpPr txBox="1"/>
          <p:nvPr/>
        </p:nvSpPr>
        <p:spPr>
          <a:xfrm>
            <a:off x="5257800" y="35478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or time has passed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today (later time) or a future date.</a:t>
            </a:r>
            <a:endParaRPr lang="en-US" sz="1100" dirty="0"/>
          </a:p>
        </p:txBody>
      </p:sp>
      <p:sp>
        <p:nvSpPr>
          <p:cNvPr id="67" name="Shape 59"/>
          <p:cNvSpPr/>
          <p:nvPr/>
        </p:nvSpPr>
        <p:spPr>
          <a:xfrm>
            <a:off x="4846320" y="4187952"/>
            <a:ext cx="274320" cy="2743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68" name="Text 60"/>
          <p:cNvSpPr txBox="1"/>
          <p:nvPr/>
        </p:nvSpPr>
        <p:spPr>
          <a:xfrm>
            <a:off x="4846320" y="4187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69" name="Text 61"/>
          <p:cNvSpPr txBox="1"/>
          <p:nvPr/>
        </p:nvSpPr>
        <p:spPr>
          <a:xfrm>
            <a:off x="5257800" y="40965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already booked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another time slot.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237744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Departments and Dashboard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Departments tab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1463040" cy="91440"/>
          </a:xfrm>
          <a:prstGeom prst="roundRect">
            <a:avLst>
              <a:gd name="adj" fmla="val 50000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384048" cy="384048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pic>
        <p:nvPicPr>
          <p:cNvPr id="10" name="Image 0" descr="FaStethosco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563624"/>
            <a:ext cx="182880" cy="1828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05840" y="141732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Physician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011680" y="123444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11680" y="1234440"/>
            <a:ext cx="1463040" cy="91440"/>
          </a:xfrm>
          <a:prstGeom prst="roundRect">
            <a:avLst>
              <a:gd name="adj" fmla="val 50000"/>
            </a:avLst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103120" y="1463040"/>
            <a:ext cx="384048" cy="384048"/>
          </a:xfrm>
          <a:prstGeom prst="ellipse">
            <a:avLst/>
          </a:prstGeom>
          <a:solidFill>
            <a:srgbClr val="F0A020"/>
          </a:solidFill>
          <a:ln w="12700">
            <a:solidFill>
              <a:srgbClr val="F0A020">
                <a:alpha val="0"/>
              </a:srgbClr>
            </a:solidFill>
            <a:prstDash val="solid"/>
          </a:ln>
        </p:spPr>
      </p:sp>
      <p:pic>
        <p:nvPicPr>
          <p:cNvPr id="15" name="Image 1" descr="FaBab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1563624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560320" y="141732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Pediatrician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566160" y="123444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566160" y="1234440"/>
            <a:ext cx="1463040" cy="91440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657600" y="1463040"/>
            <a:ext cx="384048" cy="38404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>
                <a:alpha val="0"/>
              </a:srgbClr>
            </a:solidFill>
            <a:prstDash val="solid"/>
          </a:ln>
        </p:spPr>
      </p:sp>
      <p:pic>
        <p:nvPicPr>
          <p:cNvPr id="20" name="Image 2" descr="FaHeartbe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184" y="1563624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114800" y="141732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Cardiologist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57200" y="210312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57200" y="2103120"/>
            <a:ext cx="1463040" cy="91440"/>
          </a:xfrm>
          <a:prstGeom prst="roundRect">
            <a:avLst>
              <a:gd name="adj" fmla="val 50000"/>
            </a:avLst>
          </a:prstGeom>
          <a:solidFill>
            <a:srgbClr val="D6409F"/>
          </a:solidFill>
          <a:ln w="12700">
            <a:solidFill>
              <a:srgbClr val="D6409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48640" y="2331720"/>
            <a:ext cx="384048" cy="384048"/>
          </a:xfrm>
          <a:prstGeom prst="ellipse">
            <a:avLst/>
          </a:prstGeom>
          <a:solidFill>
            <a:srgbClr val="D6409F"/>
          </a:solidFill>
          <a:ln w="12700">
            <a:solidFill>
              <a:srgbClr val="D6409F">
                <a:alpha val="0"/>
              </a:srgbClr>
            </a:solidFill>
            <a:prstDash val="solid"/>
          </a:ln>
        </p:spPr>
      </p:sp>
      <p:pic>
        <p:nvPicPr>
          <p:cNvPr id="25" name="Image 3" descr="FaFema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2432304"/>
            <a:ext cx="182880" cy="18288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05840" y="228600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Gynecologist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2011680" y="210312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2011680" y="2103120"/>
            <a:ext cx="1463040" cy="9144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2103120" y="2331720"/>
            <a:ext cx="384048" cy="38404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pic>
        <p:nvPicPr>
          <p:cNvPr id="30" name="Image 4" descr="FaBrai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3704" y="2432304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2560320" y="228600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Neurologist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3566160" y="210312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3566160" y="2103120"/>
            <a:ext cx="1463040" cy="91440"/>
          </a:xfrm>
          <a:prstGeom prst="roundRect">
            <a:avLst>
              <a:gd name="adj" fmla="val 50000"/>
            </a:avLst>
          </a:prstGeom>
          <a:solidFill>
            <a:srgbClr val="2FA77A"/>
          </a:solidFill>
          <a:ln w="12700">
            <a:solidFill>
              <a:srgbClr val="2FA77A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3657600" y="2331720"/>
            <a:ext cx="384048" cy="384048"/>
          </a:xfrm>
          <a:prstGeom prst="ellipse">
            <a:avLst/>
          </a:prstGeom>
          <a:solidFill>
            <a:srgbClr val="2FA77A"/>
          </a:solidFill>
          <a:ln w="12700">
            <a:solidFill>
              <a:srgbClr val="2FA77A">
                <a:alpha val="0"/>
              </a:srgbClr>
            </a:solidFill>
            <a:prstDash val="solid"/>
          </a:ln>
        </p:spPr>
      </p:sp>
      <p:pic>
        <p:nvPicPr>
          <p:cNvPr id="35" name="Image 5" descr="FaWheelchai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8184" y="2432304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4114800" y="228600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Geriatrician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457200" y="297180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457200" y="2971800"/>
            <a:ext cx="1463040" cy="91440"/>
          </a:xfrm>
          <a:prstGeom prst="roundRect">
            <a:avLst>
              <a:gd name="adj" fmla="val 50000"/>
            </a:avLst>
          </a:prstGeom>
          <a:solidFill>
            <a:srgbClr val="14A3B8"/>
          </a:solidFill>
          <a:ln w="12700">
            <a:solidFill>
              <a:srgbClr val="14A3B8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14A3B8"/>
          </a:solidFill>
          <a:ln w="12700">
            <a:solidFill>
              <a:srgbClr val="14A3B8">
                <a:alpha val="0"/>
              </a:srgbClr>
            </a:solidFill>
            <a:prstDash val="solid"/>
          </a:ln>
        </p:spPr>
      </p:sp>
      <p:pic>
        <p:nvPicPr>
          <p:cNvPr id="40" name="Image 6" descr="FaHandHoldingMedica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3300984"/>
            <a:ext cx="182880" cy="18288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005840" y="315468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Dermatologist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2011680" y="297180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2011680" y="2971800"/>
            <a:ext cx="1463040" cy="91440"/>
          </a:xfrm>
          <a:prstGeom prst="roundRect">
            <a:avLst>
              <a:gd name="adj" fmla="val 50000"/>
            </a:avLst>
          </a:prstGeom>
          <a:solidFill>
            <a:srgbClr val="A8793A"/>
          </a:solidFill>
          <a:ln w="12700">
            <a:solidFill>
              <a:srgbClr val="A8793A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2103120" y="3200400"/>
            <a:ext cx="384048" cy="384048"/>
          </a:xfrm>
          <a:prstGeom prst="ellipse">
            <a:avLst/>
          </a:prstGeom>
          <a:solidFill>
            <a:srgbClr val="A8793A"/>
          </a:solidFill>
          <a:ln w="12700">
            <a:solidFill>
              <a:srgbClr val="A8793A">
                <a:alpha val="0"/>
              </a:srgbClr>
            </a:solidFill>
            <a:prstDash val="solid"/>
          </a:ln>
        </p:spPr>
      </p:sp>
      <p:pic>
        <p:nvPicPr>
          <p:cNvPr id="45" name="Image 7" descr="FaBon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3704" y="3300984"/>
            <a:ext cx="182880" cy="182880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2560320" y="315468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Orthopedician</a:t>
            </a:r>
            <a:endParaRPr lang="en-US" sz="950" dirty="0"/>
          </a:p>
        </p:txBody>
      </p:sp>
      <p:sp>
        <p:nvSpPr>
          <p:cNvPr id="47" name="Shape 37"/>
          <p:cNvSpPr/>
          <p:nvPr/>
        </p:nvSpPr>
        <p:spPr>
          <a:xfrm>
            <a:off x="3566160" y="297180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3566160" y="2971800"/>
            <a:ext cx="1463040" cy="91440"/>
          </a:xfrm>
          <a:prstGeom prst="roundRect">
            <a:avLst>
              <a:gd name="adj" fmla="val 50000"/>
            </a:avLst>
          </a:prstGeom>
          <a:solidFill>
            <a:srgbClr val="3E63DD"/>
          </a:solidFill>
          <a:ln w="12700">
            <a:solidFill>
              <a:srgbClr val="3E63DD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3657600" y="3200400"/>
            <a:ext cx="384048" cy="384048"/>
          </a:xfrm>
          <a:prstGeom prst="ellipse">
            <a:avLst/>
          </a:prstGeom>
          <a:solidFill>
            <a:srgbClr val="3E63DD"/>
          </a:solidFill>
          <a:ln w="12700">
            <a:solidFill>
              <a:srgbClr val="3E63DD">
                <a:alpha val="0"/>
              </a:srgbClr>
            </a:solidFill>
            <a:prstDash val="solid"/>
          </a:ln>
        </p:spPr>
      </p:sp>
      <p:pic>
        <p:nvPicPr>
          <p:cNvPr id="50" name="Image 8" descr="FaDeaf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58184" y="3300984"/>
            <a:ext cx="182880" cy="182880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4114800" y="315468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 Specialist</a:t>
            </a:r>
            <a:endParaRPr lang="en-US" sz="950" dirty="0"/>
          </a:p>
        </p:txBody>
      </p:sp>
      <p:sp>
        <p:nvSpPr>
          <p:cNvPr id="52" name="Text 41"/>
          <p:cNvSpPr txBox="1"/>
          <p:nvPr/>
        </p:nvSpPr>
        <p:spPr>
          <a:xfrm>
            <a:off x="457200" y="38862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department to see its 3 doctors, then click "Book appointment".</a:t>
            </a:r>
            <a:endParaRPr lang="en-US" sz="1100" dirty="0"/>
          </a:p>
        </p:txBody>
      </p:sp>
      <p:sp>
        <p:nvSpPr>
          <p:cNvPr id="53" name="Text 42"/>
          <p:cNvSpPr txBox="1"/>
          <p:nvPr/>
        </p:nvSpPr>
        <p:spPr>
          <a:xfrm>
            <a:off x="521208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tab</a:t>
            </a:r>
            <a:endParaRPr lang="en-US" sz="1400" dirty="0"/>
          </a:p>
        </p:txBody>
      </p:sp>
      <p:sp>
        <p:nvSpPr>
          <p:cNvPr id="54" name="Shape 43"/>
          <p:cNvSpPr/>
          <p:nvPr/>
        </p:nvSpPr>
        <p:spPr>
          <a:xfrm>
            <a:off x="5212080" y="1234440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5257800" y="1234440"/>
            <a:ext cx="1600200" cy="64008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56" name="Text 45"/>
          <p:cNvSpPr txBox="1"/>
          <p:nvPr/>
        </p:nvSpPr>
        <p:spPr>
          <a:xfrm>
            <a:off x="5349240" y="1371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57" name="Text 46"/>
          <p:cNvSpPr txBox="1"/>
          <p:nvPr/>
        </p:nvSpPr>
        <p:spPr>
          <a:xfrm>
            <a:off x="5349240" y="1783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950" dirty="0"/>
          </a:p>
        </p:txBody>
      </p:sp>
      <p:sp>
        <p:nvSpPr>
          <p:cNvPr id="58" name="Shape 47"/>
          <p:cNvSpPr/>
          <p:nvPr/>
        </p:nvSpPr>
        <p:spPr>
          <a:xfrm>
            <a:off x="6995160" y="1234440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59" name="Shape 48"/>
          <p:cNvSpPr/>
          <p:nvPr/>
        </p:nvSpPr>
        <p:spPr>
          <a:xfrm>
            <a:off x="7040880" y="1234440"/>
            <a:ext cx="160020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0" name="Text 49"/>
          <p:cNvSpPr txBox="1"/>
          <p:nvPr/>
        </p:nvSpPr>
        <p:spPr>
          <a:xfrm>
            <a:off x="7132320" y="1371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1" name="Text 50"/>
          <p:cNvSpPr txBox="1"/>
          <p:nvPr/>
        </p:nvSpPr>
        <p:spPr>
          <a:xfrm>
            <a:off x="7132320" y="1783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visits</a:t>
            </a:r>
            <a:endParaRPr lang="en-US" sz="950" dirty="0"/>
          </a:p>
        </p:txBody>
      </p:sp>
      <p:sp>
        <p:nvSpPr>
          <p:cNvPr id="62" name="Shape 51"/>
          <p:cNvSpPr/>
          <p:nvPr/>
        </p:nvSpPr>
        <p:spPr>
          <a:xfrm>
            <a:off x="5212080" y="2148840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63" name="Shape 52"/>
          <p:cNvSpPr/>
          <p:nvPr/>
        </p:nvSpPr>
        <p:spPr>
          <a:xfrm>
            <a:off x="5257800" y="2148840"/>
            <a:ext cx="1600200" cy="640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4" name="Text 53"/>
          <p:cNvSpPr txBox="1"/>
          <p:nvPr/>
        </p:nvSpPr>
        <p:spPr>
          <a:xfrm>
            <a:off x="5349240" y="2286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65" name="Text 54"/>
          <p:cNvSpPr txBox="1"/>
          <p:nvPr/>
        </p:nvSpPr>
        <p:spPr>
          <a:xfrm>
            <a:off x="5349240" y="26974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50" dirty="0"/>
          </a:p>
        </p:txBody>
      </p:sp>
      <p:sp>
        <p:nvSpPr>
          <p:cNvPr id="66" name="Shape 55"/>
          <p:cNvSpPr/>
          <p:nvPr/>
        </p:nvSpPr>
        <p:spPr>
          <a:xfrm>
            <a:off x="6995160" y="2148840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67" name="Shape 56"/>
          <p:cNvSpPr/>
          <p:nvPr/>
        </p:nvSpPr>
        <p:spPr>
          <a:xfrm>
            <a:off x="7040880" y="2148840"/>
            <a:ext cx="1600200" cy="640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68" name="Text 57"/>
          <p:cNvSpPr txBox="1"/>
          <p:nvPr/>
        </p:nvSpPr>
        <p:spPr>
          <a:xfrm>
            <a:off x="7132320" y="2286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9" name="Text 58"/>
          <p:cNvSpPr txBox="1"/>
          <p:nvPr/>
        </p:nvSpPr>
        <p:spPr>
          <a:xfrm>
            <a:off x="7132320" y="26974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branch</a:t>
            </a:r>
            <a:endParaRPr lang="en-US" sz="950" dirty="0"/>
          </a:p>
        </p:txBody>
      </p:sp>
      <p:sp>
        <p:nvSpPr>
          <p:cNvPr id="70" name="Shape 59"/>
          <p:cNvSpPr/>
          <p:nvPr/>
        </p:nvSpPr>
        <p:spPr>
          <a:xfrm>
            <a:off x="5212080" y="3108960"/>
            <a:ext cx="34747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pic>
        <p:nvPicPr>
          <p:cNvPr id="71" name="Image 9" descr="FaClipboardLis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808" y="3310128"/>
            <a:ext cx="292608" cy="292608"/>
          </a:xfrm>
          <a:prstGeom prst="rect">
            <a:avLst/>
          </a:prstGeom>
        </p:spPr>
      </p:pic>
      <p:sp>
        <p:nvSpPr>
          <p:cNvPr id="72" name="Text 60"/>
          <p:cNvSpPr txBox="1"/>
          <p:nvPr/>
        </p:nvSpPr>
        <p:spPr>
          <a:xfrm>
            <a:off x="5742432" y="3108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 shows who did what, and where.</a:t>
            </a:r>
            <a:endParaRPr lang="en-US" sz="1050" dirty="0"/>
          </a:p>
        </p:txBody>
      </p:sp>
      <p:sp>
        <p:nvSpPr>
          <p:cNvPr id="73" name="Shape 61"/>
          <p:cNvSpPr/>
          <p:nvPr/>
        </p:nvSpPr>
        <p:spPr>
          <a:xfrm>
            <a:off x="5212080" y="393192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E3F6EE"/>
          </a:solidFill>
          <a:ln w="12700">
            <a:solidFill>
              <a:srgbClr val="2FA77A"/>
            </a:solidFill>
            <a:prstDash val="solid"/>
          </a:ln>
        </p:spPr>
      </p:sp>
      <p:sp>
        <p:nvSpPr>
          <p:cNvPr id="74" name="Text 62"/>
          <p:cNvSpPr txBox="1"/>
          <p:nvPr/>
        </p:nvSpPr>
        <p:spPr>
          <a:xfrm>
            <a:off x="5349240" y="39319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here? </a:t>
            </a:r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"Load sample data" on the Dashboard to practise.</a:t>
            </a:r>
            <a:endParaRPr lang="en-US" sz="1100" dirty="0"/>
          </a:p>
        </p:txBody>
      </p:sp>
      <p:sp>
        <p:nvSpPr>
          <p:cNvPr id="75" name="Shape 63"/>
          <p:cNvSpPr/>
          <p:nvPr/>
        </p:nvSpPr>
        <p:spPr>
          <a:xfrm>
            <a:off x="457200" y="4434840"/>
            <a:ext cx="4526280" cy="274320"/>
          </a:xfrm>
          <a:prstGeom prst="roundRect">
            <a:avLst>
              <a:gd name="adj" fmla="val 33333"/>
            </a:avLst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237744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Use Tips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40233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1FA97A"/>
          </a:solidFill>
          <a:ln w="12700">
            <a:solidFill>
              <a:srgbClr val="1FA97A"/>
            </a:solidFill>
            <a:prstDash val="solid"/>
          </a:ln>
        </p:spPr>
      </p:sp>
      <p:pic>
        <p:nvPicPr>
          <p:cNvPr id="8" name="Image 0" descr="Fa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24128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05840" y="914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155448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fictional names and numbers only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01168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role and branch first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46888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message after every save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92608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search to find patients quickly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63440" y="914400"/>
            <a:ext cx="40233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63440" y="91440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16" name="Image 1" descr="FaTimes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024128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12080" y="914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4892040" y="155448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real patient details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4892040" y="201168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link if records are sensitive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4892040" y="246888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it as a real hospital system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4892040" y="292608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red error messages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57200" y="361188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6E0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40080" y="3611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educational model. In real hospitals, security, authorization, privacy and backups must always protect patient data.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57200" y="4297680"/>
            <a:ext cx="1481328" cy="54864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57200" y="429768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role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1920240" y="42976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2121408" y="4297680"/>
            <a:ext cx="1481328" cy="548640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2121408" y="429768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3584448" y="42976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3785616" y="4297680"/>
            <a:ext cx="1481328" cy="548640"/>
          </a:xfrm>
          <a:prstGeom prst="roundRect">
            <a:avLst>
              <a:gd name="adj" fmla="val 50000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3785616" y="429768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record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5248656" y="42976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5449824" y="4297680"/>
            <a:ext cx="1481328" cy="548640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449824" y="429768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visit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6912864" y="42976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7114032" y="4297680"/>
            <a:ext cx="1481328" cy="54864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7114032" y="429768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Dashboard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iCloud Guide">
  <a:themeElements>
    <a:clrScheme name="MediCloud Guide">
      <a:dk1>
        <a:srgbClr val="0B2545"/>
      </a:dk1>
      <a:lt1>
        <a:srgbClr val="FFFFFF"/>
      </a:lt1>
      <a:dk2>
        <a:srgbClr val="13315C"/>
      </a:dk2>
      <a:lt2>
        <a:srgbClr val="F2F7FB"/>
      </a:lt2>
      <a:accent1>
        <a:srgbClr val="00B4D8"/>
      </a:accent1>
      <a:accent2>
        <a:srgbClr val="FF6B6B"/>
      </a:accent2>
      <a:accent3>
        <a:srgbClr val="7B61FF"/>
      </a:accent3>
      <a:accent4>
        <a:srgbClr val="2EC4B6"/>
      </a:accent4>
      <a:accent5>
        <a:srgbClr val="FFB703"/>
      </a:accent5>
      <a:accent6>
        <a:srgbClr val="06D6A0"/>
      </a:accent6>
      <a:hlink>
        <a:srgbClr val="00B4D8"/>
      </a:hlink>
      <a:folHlink>
        <a:srgbClr val="7B61FF"/>
      </a:folHlink>
    </a:clrScheme>
    <a:fontScheme name="MediCloud Guid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the Hospital Cloud System</dc:title>
  <dc:subject>PptxGenJS Presentation</dc:subject>
  <dc:creator>PptxGenJS</dc:creator>
  <cp:lastModifiedBy>PptxGenJS</cp:lastModifiedBy>
  <cp:revision>1</cp:revision>
  <dcterms:created xsi:type="dcterms:W3CDTF">2026-10-09T05:26:30Z</dcterms:created>
  <dcterms:modified xsi:type="dcterms:W3CDTF">2026-10-09T05:26:30Z</dcterms:modified>
</cp:coreProperties>
</file>