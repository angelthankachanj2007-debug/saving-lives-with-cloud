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Today: how cloud computing helps hospitals protect patient data and treat patients faster.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Domain context: hospitals depend on electronic health records and imaging archives. Local-only storage creates single points of failure, ransomware exposure and silos between branches.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patient registered at Branch A -&gt; record saved to encrypted cloud -&gt; Branch B doctor, once authorized, retrieves the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screen: login, patient search, history across branches, authorization badge, and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73152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914400"/>
            <a:ext cx="2926080" cy="2926080"/>
          </a:xfrm>
          <a:prstGeom prst="ellipse">
            <a:avLst/>
          </a:prstGeom>
          <a:solidFill>
            <a:srgbClr val="00B4D8">
              <a:alpha val="30000"/>
            </a:srgbClr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3291840"/>
            <a:ext cx="2194560" cy="2194560"/>
          </a:xfrm>
          <a:prstGeom prst="ellipse">
            <a:avLst/>
          </a:prstGeom>
          <a:solidFill>
            <a:srgbClr val="7B61FF">
              <a:alpha val="40000"/>
            </a:srgbClr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FF6B6B">
              <a:alpha val="30000"/>
            </a:srgbClr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pic>
        <p:nvPicPr>
          <p:cNvPr id="6" name="Image 0" descr="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097280"/>
            <a:ext cx="2377440" cy="2377440"/>
          </a:xfrm>
          <a:prstGeom prst="rect">
            <a:avLst/>
          </a:prstGeom>
        </p:spPr>
      </p:pic>
      <p:pic>
        <p:nvPicPr>
          <p:cNvPr id="7" name="Image 1" descr="heartbe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965960"/>
            <a:ext cx="822960" cy="822960"/>
          </a:xfrm>
          <a:prstGeom prst="rect">
            <a:avLst/>
          </a:prstGeom>
        </p:spPr>
      </p:pic>
      <p:pic>
        <p:nvPicPr>
          <p:cNvPr id="8" name="Image 2" descr="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3246120"/>
            <a:ext cx="640080" cy="640080"/>
          </a:xfrm>
          <a:prstGeom prst="rect">
            <a:avLst/>
          </a:prstGeom>
        </p:spPr>
      </p:pic>
      <p:pic>
        <p:nvPicPr>
          <p:cNvPr id="9" name="Image 3" descr="doct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548640" cy="54864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48640" y="8229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 •  HEALTHCARE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548640" y="12344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 Lives with Data</a:t>
            </a:r>
            <a:endParaRPr lang="en-US" sz="4000" dirty="0"/>
          </a:p>
        </p:txBody>
      </p:sp>
      <p:sp>
        <p:nvSpPr>
          <p:cNvPr id="12" name="Shape 6"/>
          <p:cNvSpPr/>
          <p:nvPr/>
        </p:nvSpPr>
        <p:spPr>
          <a:xfrm>
            <a:off x="548640" y="2743200"/>
            <a:ext cx="109728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7"/>
          <p:cNvSpPr txBox="1"/>
          <p:nvPr/>
        </p:nvSpPr>
        <p:spPr>
          <a:xfrm>
            <a:off x="54864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Cloud Computing in Healthcare</a:t>
            </a:r>
            <a:endParaRPr lang="en-US" sz="1800" dirty="0"/>
          </a:p>
        </p:txBody>
      </p:sp>
      <p:sp>
        <p:nvSpPr>
          <p:cNvPr id="14" name="Shape 8"/>
          <p:cNvSpPr/>
          <p:nvPr/>
        </p:nvSpPr>
        <p:spPr>
          <a:xfrm>
            <a:off x="54864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54864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192024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192024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3291840" y="3840480"/>
            <a:ext cx="1234440" cy="36576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3291840" y="384048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" cy="56692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Overcrowded Hospitals, Fragile Records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6217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stuck on in-house computers puts care — and lives — at risk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runs on data, every single 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27048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pic>
        <p:nvPicPr>
          <p:cNvPr id="9" name="Image 0" descr="Patient detai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27632"/>
            <a:ext cx="201168" cy="20116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24128" y="14630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details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468880" y="1463040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527048"/>
            <a:ext cx="402336" cy="40233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pic>
        <p:nvPicPr>
          <p:cNvPr id="13" name="Image 1" descr="Medical repo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62763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35808" y="146304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reports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084832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30352" y="2148840"/>
            <a:ext cx="402336" cy="402336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pic>
        <p:nvPicPr>
          <p:cNvPr id="17" name="Image 2" descr="Scan resul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24942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024128" y="20848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results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468880" y="2084832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542032" y="2148840"/>
            <a:ext cx="402336" cy="40233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pic>
        <p:nvPicPr>
          <p:cNvPr id="21" name="Image 3" descr="Prescription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224942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3035808" y="20848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57200" y="2706624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30352" y="2770632"/>
            <a:ext cx="402336" cy="402336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pic>
        <p:nvPicPr>
          <p:cNvPr id="25" name="Image 4" descr="Appointment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287121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024128" y="270662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2468880" y="2706624"/>
            <a:ext cx="19202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2542032" y="2770632"/>
            <a:ext cx="402336" cy="40233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pic>
        <p:nvPicPr>
          <p:cNvPr id="29" name="Image 5" descr="Treatment history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42616" y="2871216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035808" y="2706624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history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57200" y="3383280"/>
            <a:ext cx="3931920" cy="777240"/>
          </a:xfrm>
          <a:prstGeom prst="roundRect">
            <a:avLst>
              <a:gd name="adj" fmla="val 11765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32" name="Image 6" descr="dat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30168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1005840" y="33832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keeps growing.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High-resolution scans and years of records quickly outgrow local servers.</a:t>
            </a:r>
            <a:endParaRPr lang="en-US" sz="1100" dirty="0"/>
          </a:p>
        </p:txBody>
      </p:sp>
      <p:sp>
        <p:nvSpPr>
          <p:cNvPr id="34" name="Text 25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wrong if data lives only in-house?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663440" y="146304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4663440" y="1463040"/>
            <a:ext cx="640080" cy="566928"/>
          </a:xfrm>
          <a:prstGeom prst="roundRect">
            <a:avLst>
              <a:gd name="adj" fmla="val 161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7" name="Image 7" descr="Hardware failur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1600200"/>
            <a:ext cx="329184" cy="292608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5440680" y="14630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failure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crashed computer can block access to records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4663440" y="210312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4663440" y="2103120"/>
            <a:ext cx="640080" cy="566928"/>
          </a:xfrm>
          <a:prstGeom prst="roundRect">
            <a:avLst>
              <a:gd name="adj" fmla="val 16129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41" name="Image 8" descr="Fire or disaster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2240280"/>
            <a:ext cx="329184" cy="29260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5440680" y="21031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or disaster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data can be lost permanently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4663440" y="274320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663440" y="2743200"/>
            <a:ext cx="640080" cy="566928"/>
          </a:xfrm>
          <a:prstGeom prst="roundRect">
            <a:avLst>
              <a:gd name="adj" fmla="val 161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pic>
        <p:nvPicPr>
          <p:cNvPr id="45" name="Image 9" descr="Virus / ransomwar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2880360"/>
            <a:ext cx="329184" cy="292608"/>
          </a:xfrm>
          <a:prstGeom prst="rect">
            <a:avLst/>
          </a:prstGeom>
        </p:spPr>
      </p:pic>
      <p:sp>
        <p:nvSpPr>
          <p:cNvPr id="46" name="Text 34"/>
          <p:cNvSpPr txBox="1"/>
          <p:nvPr/>
        </p:nvSpPr>
        <p:spPr>
          <a:xfrm>
            <a:off x="5440680" y="274320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Virus / ransomware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are prime targets for cyber attacks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4663440" y="3383280"/>
            <a:ext cx="40233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4663440" y="3383280"/>
            <a:ext cx="640080" cy="566928"/>
          </a:xfrm>
          <a:prstGeom prst="roundRect">
            <a:avLst>
              <a:gd name="adj" fmla="val 161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9" name="Image 10" descr="No cross-branch acces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8888" y="3520440"/>
            <a:ext cx="329184" cy="292608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5440680" y="3383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cross-branch access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cannot see Branch A history</a:t>
            </a:r>
            <a:endParaRPr lang="en-US" sz="1200" dirty="0"/>
          </a:p>
        </p:txBody>
      </p:sp>
      <p:sp>
        <p:nvSpPr>
          <p:cNvPr id="51" name="Shape 38"/>
          <p:cNvSpPr/>
          <p:nvPr/>
        </p:nvSpPr>
        <p:spPr>
          <a:xfrm>
            <a:off x="457200" y="43434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39"/>
          <p:cNvSpPr txBox="1"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delayed treatment, repeated tests, lost records — and risk to patient safety.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A Secure Hospital Cloud System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6217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shared, protected record that follows the patient across branches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Branch 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2801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visits. Doctor saves record to the cloud.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766560" y="1097280"/>
            <a:ext cx="2011680" cy="2011680"/>
          </a:xfrm>
          <a:prstGeom prst="roundRect">
            <a:avLst>
              <a:gd name="adj" fmla="val 6818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11" name="Image 1" descr="Branch 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128016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903720" y="22860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visits later. Authorized doctor views full history.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200400" y="1097280"/>
            <a:ext cx="2743200" cy="2011680"/>
          </a:xfrm>
          <a:prstGeom prst="roundRect">
            <a:avLst>
              <a:gd name="adj" fmla="val 6818"/>
            </a:avLst>
          </a:prstGeom>
          <a:solidFill>
            <a:srgbClr val="0B2545"/>
          </a:solidFill>
          <a:ln w="38100">
            <a:solidFill>
              <a:srgbClr val="7B61FF"/>
            </a:solidFill>
            <a:prstDash val="solid"/>
          </a:ln>
        </p:spPr>
      </p:sp>
      <p:pic>
        <p:nvPicPr>
          <p:cNvPr id="15" name="Image 2" descr="clou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1887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2004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Cloud System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383280" y="2212848"/>
            <a:ext cx="2377440" cy="228600"/>
          </a:xfrm>
          <a:prstGeom prst="roundRect">
            <a:avLst>
              <a:gd name="adj" fmla="val 48000"/>
            </a:avLst>
          </a:prstGeom>
          <a:solidFill>
            <a:srgbClr val="7B61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3383280" y="2212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3383280" y="2487168"/>
            <a:ext cx="2377440" cy="228600"/>
          </a:xfrm>
          <a:prstGeom prst="roundRect">
            <a:avLst>
              <a:gd name="adj" fmla="val 48000"/>
            </a:avLst>
          </a:prstGeom>
          <a:solidFill>
            <a:srgbClr val="00B4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383280" y="2487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Auto-backup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383280" y="2761488"/>
            <a:ext cx="2377440" cy="228600"/>
          </a:xfrm>
          <a:prstGeom prst="roundRect">
            <a:avLst>
              <a:gd name="adj" fmla="val 48000"/>
            </a:avLst>
          </a:prstGeom>
          <a:solidFill>
            <a:srgbClr val="FF6B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3383280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423160" y="1920240"/>
            <a:ext cx="731520" cy="0"/>
          </a:xfrm>
          <a:prstGeom prst="line">
            <a:avLst/>
          </a:prstGeom>
          <a:noFill/>
          <a:ln w="381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4" name="Text 19"/>
          <p:cNvSpPr txBox="1"/>
          <p:nvPr/>
        </p:nvSpPr>
        <p:spPr>
          <a:xfrm>
            <a:off x="23774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Save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89320" y="1920240"/>
            <a:ext cx="731520" cy="0"/>
          </a:xfrm>
          <a:prstGeom prst="line">
            <a:avLst/>
          </a:prstGeom>
          <a:noFill/>
          <a:ln w="3810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26" name="Text 21"/>
          <p:cNvSpPr txBox="1"/>
          <p:nvPr/>
        </p:nvSpPr>
        <p:spPr>
          <a:xfrm>
            <a:off x="594360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Access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58978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proper authorization</a:t>
            </a:r>
            <a:endParaRPr lang="en-US" sz="800" dirty="0"/>
          </a:p>
        </p:txBody>
      </p:sp>
      <p:sp>
        <p:nvSpPr>
          <p:cNvPr id="28" name="Text 23"/>
          <p:cNvSpPr txBox="1"/>
          <p:nvPr/>
        </p:nvSpPr>
        <p:spPr>
          <a:xfrm>
            <a:off x="36576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365760" y="35661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22960" y="365760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pic>
        <p:nvPicPr>
          <p:cNvPr id="31" name="Image 3" descr="Access from any lo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438912" y="41330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from any location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1783080" y="35661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240280" y="3657600"/>
            <a:ext cx="411480" cy="411480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pic>
        <p:nvPicPr>
          <p:cNvPr id="35" name="Image 4" descr="Safe backup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3749040"/>
            <a:ext cx="228600" cy="228600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856232" y="41330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backups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3200400" y="35661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3657600" y="3657600"/>
            <a:ext cx="411480" cy="4114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pic>
        <p:nvPicPr>
          <p:cNvPr id="39" name="Image 5" descr="Less reliance on one compute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9040" y="3749040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3273552" y="41330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reliance on one computer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4617720" y="35661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5074920" y="3657600"/>
            <a:ext cx="411480" cy="4114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pic>
        <p:nvPicPr>
          <p:cNvPr id="43" name="Image 6" descr="Easy branch shari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6360" y="3749040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4690872" y="41330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branch sharing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6035040" y="35661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FFB703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6492240" y="3657600"/>
            <a:ext cx="411480" cy="41148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pic>
        <p:nvPicPr>
          <p:cNvPr id="47" name="Image 7" descr="Storage grows with data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749040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6108192" y="41330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grows with data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7452360" y="3566160"/>
            <a:ext cx="13258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7909560" y="3657600"/>
            <a:ext cx="411480" cy="4114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pic>
        <p:nvPicPr>
          <p:cNvPr id="51" name="Image 8" descr="Doctors get data when needed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3749040"/>
            <a:ext cx="228600" cy="22860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7525512" y="4133088"/>
            <a:ext cx="1179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get data when needed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2296" cy="566928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56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Prototype: MediCloud Patient Portal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62179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mockup of the cloud-based patient record 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6692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5875">
            <a:solidFill>
              <a:srgbClr val="B8C7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5669280" cy="320040"/>
          </a:xfrm>
          <a:prstGeom prst="rect">
            <a:avLst/>
          </a:prstGeom>
          <a:solidFill>
            <a:srgbClr val="DCE6EE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106424"/>
            <a:ext cx="118872" cy="1188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106424"/>
            <a:ext cx="118872" cy="118872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1106424"/>
            <a:ext cx="118872" cy="11887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80160" y="1060704"/>
            <a:ext cx="3840480" cy="210312"/>
          </a:xfrm>
          <a:prstGeom prst="roundRect">
            <a:avLst>
              <a:gd name="adj" fmla="val 4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1060704"/>
            <a:ext cx="3657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medicloud.hospital.org/patient/10482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25880"/>
            <a:ext cx="1188720" cy="32918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1417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MediCloud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810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2157984"/>
            <a:ext cx="1042416" cy="274320"/>
          </a:xfrm>
          <a:prstGeom prst="roundRect">
            <a:avLst>
              <a:gd name="adj" fmla="val 20000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5054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852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00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83080" y="1435608"/>
            <a:ext cx="4206240" cy="731520"/>
          </a:xfrm>
          <a:prstGeom prst="roundRect">
            <a:avLst>
              <a:gd name="adj" fmla="val 10000"/>
            </a:avLst>
          </a:prstGeom>
          <a:solidFill>
            <a:srgbClr val="F2F7FB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74520" y="1527048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pic>
        <p:nvPicPr>
          <p:cNvPr id="24" name="Image 0" descr="pati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9112" y="1682496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2560320" y="1435608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Kumar, 45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 10482  |  Blood group: O+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0" y="166420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166420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 | Authorized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1783080" y="225856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records (synced from all branches)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783080" y="2542032"/>
            <a:ext cx="420624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856232" y="260604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1" name="Image 1" descr="Lab re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384" y="2679192"/>
            <a:ext cx="155448" cy="15544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2286000" y="254203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report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Mar 2026</a:t>
            </a:r>
            <a:endParaRPr lang="en-US" sz="1050" dirty="0"/>
          </a:p>
        </p:txBody>
      </p:sp>
      <p:sp>
        <p:nvSpPr>
          <p:cNvPr id="33" name="Text 29"/>
          <p:cNvSpPr txBox="1"/>
          <p:nvPr/>
        </p:nvSpPr>
        <p:spPr>
          <a:xfrm>
            <a:off x="4937760" y="254203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1783080" y="3044952"/>
            <a:ext cx="420624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1856232" y="310896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36" name="Image 2" descr="CT sc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9384" y="3182112"/>
            <a:ext cx="155448" cy="155448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2286000" y="304495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scan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Feb 2026</a:t>
            </a:r>
            <a:endParaRPr lang="en-US" sz="1050" dirty="0"/>
          </a:p>
        </p:txBody>
      </p:sp>
      <p:sp>
        <p:nvSpPr>
          <p:cNvPr id="38" name="Text 33"/>
          <p:cNvSpPr txBox="1"/>
          <p:nvPr/>
        </p:nvSpPr>
        <p:spPr>
          <a:xfrm>
            <a:off x="4937760" y="304495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900" dirty="0"/>
          </a:p>
        </p:txBody>
      </p:sp>
      <p:sp>
        <p:nvSpPr>
          <p:cNvPr id="39" name="Shape 34"/>
          <p:cNvSpPr/>
          <p:nvPr/>
        </p:nvSpPr>
        <p:spPr>
          <a:xfrm>
            <a:off x="1783080" y="3547872"/>
            <a:ext cx="420624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1856232" y="361188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pic>
        <p:nvPicPr>
          <p:cNvPr id="41" name="Image 3" descr="Prescrip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9384" y="3685032"/>
            <a:ext cx="155448" cy="155448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2286000" y="354787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Jan 2026</a:t>
            </a:r>
            <a:endParaRPr lang="en-US" sz="1050" dirty="0"/>
          </a:p>
        </p:txBody>
      </p:sp>
      <p:sp>
        <p:nvSpPr>
          <p:cNvPr id="43" name="Text 37"/>
          <p:cNvSpPr txBox="1"/>
          <p:nvPr/>
        </p:nvSpPr>
        <p:spPr>
          <a:xfrm>
            <a:off x="4937760" y="354787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1783080" y="4050792"/>
            <a:ext cx="4206240" cy="429768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856232" y="4114800"/>
            <a:ext cx="301752" cy="301752"/>
          </a:xfrm>
          <a:prstGeom prst="roundRect">
            <a:avLst>
              <a:gd name="adj" fmla="val 18182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pic>
        <p:nvPicPr>
          <p:cNvPr id="46" name="Image 4" descr="Follow-up visi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9384" y="4187952"/>
            <a:ext cx="155448" cy="155448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2286000" y="405079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visit</a:t>
            </a:r>
            <a:endParaRPr lang="en-US" sz="1050" dirty="0"/>
          </a:p>
          <a:p>
            <a:pPr indent="0" marL="0">
              <a:buNone/>
            </a:pPr>
            <a:r>
              <a:rPr lang="en-US" sz="8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Apr 2026</a:t>
            </a:r>
            <a:endParaRPr lang="en-US" sz="1050" dirty="0"/>
          </a:p>
        </p:txBody>
      </p:sp>
      <p:sp>
        <p:nvSpPr>
          <p:cNvPr id="48" name="Text 41"/>
          <p:cNvSpPr txBox="1"/>
          <p:nvPr/>
        </p:nvSpPr>
        <p:spPr>
          <a:xfrm>
            <a:off x="4937760" y="4050792"/>
            <a:ext cx="914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B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355080" y="1005840"/>
            <a:ext cx="2331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6446520" y="1188720"/>
            <a:ext cx="438912" cy="43891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>
                <a:alpha val="0"/>
              </a:srgbClr>
            </a:solidFill>
            <a:prstDash val="solid"/>
          </a:ln>
        </p:spPr>
      </p:sp>
      <p:pic>
        <p:nvPicPr>
          <p:cNvPr id="51" name="Image 5" descr="Secure logi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1298448"/>
            <a:ext cx="219456" cy="219456"/>
          </a:xfrm>
          <a:prstGeom prst="rect">
            <a:avLst/>
          </a:prstGeom>
        </p:spPr>
      </p:pic>
      <p:sp>
        <p:nvSpPr>
          <p:cNvPr id="52" name="Text 44"/>
          <p:cNvSpPr txBox="1"/>
          <p:nvPr/>
        </p:nvSpPr>
        <p:spPr>
          <a:xfrm>
            <a:off x="6995160" y="100584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authorized staff</a:t>
            </a:r>
            <a:endParaRPr lang="en-US" sz="1150" dirty="0"/>
          </a:p>
        </p:txBody>
      </p:sp>
      <p:sp>
        <p:nvSpPr>
          <p:cNvPr id="53" name="Shape 45"/>
          <p:cNvSpPr/>
          <p:nvPr/>
        </p:nvSpPr>
        <p:spPr>
          <a:xfrm>
            <a:off x="6355080" y="1911096"/>
            <a:ext cx="2331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6446520" y="2093976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pic>
        <p:nvPicPr>
          <p:cNvPr id="55" name="Image 6" descr="Real-time sync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2203704"/>
            <a:ext cx="219456" cy="219456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6995160" y="191109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updates appear at Branch B</a:t>
            </a:r>
            <a:endParaRPr lang="en-US" sz="1150" dirty="0"/>
          </a:p>
        </p:txBody>
      </p:sp>
      <p:sp>
        <p:nvSpPr>
          <p:cNvPr id="57" name="Shape 48"/>
          <p:cNvSpPr/>
          <p:nvPr/>
        </p:nvSpPr>
        <p:spPr>
          <a:xfrm>
            <a:off x="6355080" y="2816352"/>
            <a:ext cx="2331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6446520" y="2999232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>
                <a:alpha val="0"/>
              </a:srgbClr>
            </a:solidFill>
            <a:prstDash val="solid"/>
          </a:ln>
        </p:spPr>
      </p:sp>
      <p:pic>
        <p:nvPicPr>
          <p:cNvPr id="59" name="Image 7" descr="Automatic backup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6248" y="3108960"/>
            <a:ext cx="219456" cy="219456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6995160" y="281635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backup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safe even if a PC fails</a:t>
            </a:r>
            <a:endParaRPr lang="en-US" sz="1150" dirty="0"/>
          </a:p>
        </p:txBody>
      </p:sp>
      <p:sp>
        <p:nvSpPr>
          <p:cNvPr id="61" name="Shape 51"/>
          <p:cNvSpPr/>
          <p:nvPr/>
        </p:nvSpPr>
        <p:spPr>
          <a:xfrm>
            <a:off x="6355080" y="3721608"/>
            <a:ext cx="233172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6446520" y="3904488"/>
            <a:ext cx="438912" cy="43891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>
                <a:alpha val="0"/>
              </a:srgbClr>
            </a:solidFill>
            <a:prstDash val="solid"/>
          </a:ln>
        </p:spPr>
      </p:sp>
      <p:pic>
        <p:nvPicPr>
          <p:cNvPr id="63" name="Image 8" descr="Audit lo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4014216"/>
            <a:ext cx="219456" cy="219456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6995160" y="3721608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view is tracked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iCloud">
  <a:themeElements>
    <a:clrScheme name="MediCloud">
      <a:dk1>
        <a:srgbClr val="0B2545"/>
      </a:dk1>
      <a:lt1>
        <a:srgbClr val="FFFFFF"/>
      </a:lt1>
      <a:dk2>
        <a:srgbClr val="13315C"/>
      </a:dk2>
      <a:lt2>
        <a:srgbClr val="F2F7FB"/>
      </a:lt2>
      <a:accent1>
        <a:srgbClr val="00B4D8"/>
      </a:accent1>
      <a:accent2>
        <a:srgbClr val="FF6B6B"/>
      </a:accent2>
      <a:accent3>
        <a:srgbClr val="7B61FF"/>
      </a:accent3>
      <a:accent4>
        <a:srgbClr val="2EC4B6"/>
      </a:accent4>
      <a:accent5>
        <a:srgbClr val="FFB703"/>
      </a:accent5>
      <a:accent6>
        <a:srgbClr val="06D6A0"/>
      </a:accent6>
      <a:hlink>
        <a:srgbClr val="00B4D8"/>
      </a:hlink>
      <a:folHlink>
        <a:srgbClr val="7B61FF"/>
      </a:folHlink>
    </a:clrScheme>
    <a:fontScheme name="MediCloud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Saving Lives with Data</dc:title>
  <dc:subject>PptxGenJS Presentation</dc:subject>
  <dc:creator>PptxGenJS</dc:creator>
  <cp:lastModifiedBy>PptxGenJS</cp:lastModifiedBy>
  <cp:revision>1</cp:revision>
  <dcterms:created xsi:type="dcterms:W3CDTF">2026-10-08T04:48:29Z</dcterms:created>
  <dcterms:modified xsi:type="dcterms:W3CDTF">2026-10-08T04:48:29Z</dcterms:modified>
</cp:coreProperties>
</file>